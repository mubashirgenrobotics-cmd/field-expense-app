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Combined deck: Part 1 carries the leadership session into our department vision. Part 2 turns that vision into the field service standards every engineer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Part 1 is the why and the mindset; Part 2 is the how — the standards each engineer is accountable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everything to the company vision before we talk about our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vision out loud. This sentence is what every standard in Part 2 is built to deliver.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unbroken line: if an engineer's KPI does not ladder up to a happy customer, it is the wrong KPI.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shifts are the bridge into Part 2 — every field standard traces back to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team: which column describes our last five jobs, honestly?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Quadrant II is where preventive maintenance lives. Part 2 of this deck is essentially a Quadrant II playbook.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hinge slide: mindset on the left, visible team behaviour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 publicly to the four weeks. Week 3 is where Part 2's standards get practised.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mindset done — now the operating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item in the green column is a standard in this deck. Every item in red is a preventable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do's and don'ts are in the handbook; these six are the ones that cause the most complaints.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gear is not optional: Bandicoot and G-Mammoth work happens around manholes, confined spaces and heavy equipment.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of these aloud. These are the rules we never bend, regardless of customer pressure or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Communication is the cheapest lever we have for customer satisfaction.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Cross-region cover and correct escalation are what make us feel like one department instead of scattered individuals.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Sections 6 and 7 of the handbook. The regional directory matters most when an emergency spare is needed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stages. Most failures happen because stage one was skipped.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one decides whether the job is first-time-right.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Thirteen steps, same order, every site. The last one is the one most often skipped under time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protects the company on warranty and disputes, and helps diagnose repeat 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Applies to every unit: Bandicoot, Mobility Plus, G-Mammoth, Wilboar, generators and compressors.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Delayed expense submission delays the next fund release for everyone on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the Time Matrix: PM is Quadrant II. Protect the time or Quadrant I never shrinks.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fillable forms are in the training handbook, Section 12 — one printable page per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Part 2 by making ownership explicit and personal.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vision sentence. Mindset plus standards equals a happy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F4A5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0F4A5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WITH EFFECTIVENESS  ·  FROM SESSION TO ACTION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Department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8E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with Effectiveness  +  Field Service Standards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3566160"/>
            <a:ext cx="7955280" cy="1234440"/>
          </a:xfrm>
          <a:prstGeom prst="roundRect">
            <a:avLst>
              <a:gd name="adj" fmla="val 7407"/>
            </a:avLst>
          </a:prstGeom>
          <a:solidFill>
            <a:srgbClr val="0F4A5E"/>
          </a:solidFill>
          <a:ln w="15875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703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DEPARTMENT VISION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3968496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“To create a world-class service support and to make a happy customer.”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Session  ·  Department Presentation  ·  Field Service Engineer Training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parts, one continuous 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why we lead this way, to exactly how we work in the field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286000"/>
            <a:ext cx="566928" cy="56692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3035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with Effectiveness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345643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vision, the key shifts from the session, and the habits we commit to as a department.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47688" y="2286000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6647688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47688" y="3035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Service Standards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47688" y="345643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that vision becomes daily practice: preparation, conduct, workflow, and prevention.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4F1E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49834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happy customer is not an accident. It is the result of a proactive mindset (Part 1) applied through disciplined field practice (Part 2) — every visit, every machine, every region.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206240" cy="4206240"/>
          </a:xfrm>
          <a:prstGeom prst="ellipse">
            <a:avLst/>
          </a:prstGeom>
          <a:solidFill>
            <a:srgbClr val="0F4A5E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7373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224028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“Crafting robotics and AI solutions to empower and redefine possibilities of mankind.”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05840" y="39319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at Genrobotics — including Maintenance — exists to make this true in practice, not just on paper.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DEPARTMENT VISION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Department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E4F1EE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“To create a world-class service support</a:t>
            </a:r>
            <a:endParaRPr lang="en-US" sz="3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to make a happy customer.”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our one-sentence answer to: “Why does the Maintenance Department matter to Genrobotics' vision?” Every habit and standard in this deck exists to make this vision real for our internal and external customers.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3520440" cy="658368"/>
          </a:xfrm>
          <a:prstGeom prst="roundRect">
            <a:avLst>
              <a:gd name="adj" fmla="val 50000"/>
            </a:avLst>
          </a:prstGeom>
          <a:solidFill>
            <a:srgbClr val="F2F7F8"/>
          </a:solidFill>
          <a:ln w="15875">
            <a:solidFill>
              <a:srgbClr val="118A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548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service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4754880"/>
            <a:ext cx="3520440" cy="658368"/>
          </a:xfrm>
          <a:prstGeom prst="roundRect">
            <a:avLst>
              <a:gd name="adj" fmla="val 50000"/>
            </a:avLst>
          </a:prstGeom>
          <a:solidFill>
            <a:srgbClr val="F2F7F8"/>
          </a:solidFill>
          <a:ln w="15875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47548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customer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4754880"/>
            <a:ext cx="3520440" cy="658368"/>
          </a:xfrm>
          <a:prstGeom prst="roundRect">
            <a:avLst>
              <a:gd name="adj" fmla="val 50000"/>
            </a:avLst>
          </a:prstGeom>
          <a:solidFill>
            <a:srgbClr val="F2F7F8"/>
          </a:solidFill>
          <a:ln w="15875">
            <a:solidFill>
              <a:srgbClr val="5B74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47548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region, every machine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ALIGNMENT LADDER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line, from company purpose to daily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52828"/>
            <a:ext cx="420624" cy="420624"/>
          </a:xfrm>
          <a:prstGeom prst="ellipse">
            <a:avLst/>
          </a:prstGeom>
          <a:solidFill>
            <a:srgbClr val="0B3A4A"/>
          </a:solidFill>
          <a:ln/>
        </p:spPr>
      </p:sp>
      <p:sp>
        <p:nvSpPr>
          <p:cNvPr id="6" name="Text 4"/>
          <p:cNvSpPr/>
          <p:nvPr/>
        </p:nvSpPr>
        <p:spPr>
          <a:xfrm>
            <a:off x="1481328" y="19568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Vision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81328" y="225856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robotics and AI solutions to empower and redefine possibilities of mankind.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9748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168396"/>
            <a:ext cx="420624" cy="420624"/>
          </a:xfrm>
          <a:prstGeom prst="ellipse">
            <a:avLst/>
          </a:prstGeom>
          <a:solidFill>
            <a:srgbClr val="0F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481328" y="30723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Vision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81328" y="33741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service support that makes every customer a happy customer.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81304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5993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283964"/>
            <a:ext cx="420624" cy="42062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6" name="Text 14"/>
          <p:cNvSpPr/>
          <p:nvPr/>
        </p:nvSpPr>
        <p:spPr>
          <a:xfrm>
            <a:off x="1481328" y="4187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Goals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481328" y="448970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response, higher first-time-fix rate, and fewer repeat breakdowns this quarter.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" y="492861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17550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4F1EE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5399532"/>
            <a:ext cx="420624" cy="42062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1481328" y="53035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KPIs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481328" y="560527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engineer owns response time, PM adherence, and customer feedback score.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FROM THE SESSION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shifts that matter most for Maintenance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286000"/>
            <a:ext cx="621792" cy="62179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860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31089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Proactive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96112" y="38404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our response instead of just reacting to breakdowns. Widen the gap between an alarm and our action.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286000"/>
            <a:ext cx="621792" cy="62179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860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1089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 with the End in Mind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63440" y="38404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a “happy customer” and “world-class service” actually look like, before we plan the work.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2286000"/>
            <a:ext cx="621792" cy="621792"/>
          </a:xfrm>
          <a:prstGeom prst="ellipse">
            <a:avLst/>
          </a:prstGeom>
          <a:solidFill>
            <a:srgbClr val="E0A100"/>
          </a:solidFill>
          <a:ln/>
        </p:spPr>
      </p:sp>
      <p:sp>
        <p:nvSpPr>
          <p:cNvPr id="16" name="Text 14"/>
          <p:cNvSpPr/>
          <p:nvPr/>
        </p:nvSpPr>
        <p:spPr>
          <a:xfrm>
            <a:off x="8430768" y="22860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30768" y="31089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First Things First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30768" y="38404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time for preventive maintenance and planning, not just firefighting the urgent breakdown.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1 · BE PROACTIVE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fixing vs. proactive service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an alarm and our response is where we choose which department we are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502920"/>
          </a:xfrm>
          <a:prstGeom prst="roundRect">
            <a:avLst>
              <a:gd name="adj" fmla="val 12727"/>
            </a:avLst>
          </a:prstGeom>
          <a:solidFill>
            <a:srgbClr val="A34A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920240"/>
            <a:ext cx="5440680" cy="502920"/>
          </a:xfrm>
          <a:prstGeom prst="roundRect">
            <a:avLst>
              <a:gd name="adj" fmla="val 12727"/>
            </a:avLst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9202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MAINTENANCE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78608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broke, so we fix it.” No pattern tracking.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578608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E4F1EE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578608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track failure patterns and act before the next one.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74720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Spares ordered only after a failure.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474720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474720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spares pre-positioned based on planned schedules.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70832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70832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finds out from the downtime, not from us.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370832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E4F1EE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370832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informed and reassured before they need to ask.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66944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66944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spent blaming machines, vendors, or shifts.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5266944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5266944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spent on what we can influence — our prep, our checks.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3 · PUT FIRST THINGS FIRST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Time Matrix, applied to maintenance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212848"/>
            <a:ext cx="310896" cy="310896"/>
          </a:xfrm>
          <a:prstGeom prst="ellipse">
            <a:avLst/>
          </a:prstGeom>
          <a:solidFill>
            <a:srgbClr val="A34A3A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21945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· URGENT &amp; IMPORTANT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9536" y="26700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Line-down breakdowns, safety-critical failures, emergency escalations.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E4F1EE"/>
          </a:solidFill>
          <a:ln w="22225">
            <a:solidFill>
              <a:srgbClr val="06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4536" y="2212848"/>
            <a:ext cx="310896" cy="3108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7013448" y="21945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· NOT URGENT, IMPORTANT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74536" y="26700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maintenance, spares planning, training, root-cause analysis.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4087368"/>
            <a:ext cx="310896" cy="310896"/>
          </a:xfrm>
          <a:prstGeom prst="ellipse">
            <a:avLst/>
          </a:prstGeom>
          <a:solidFill>
            <a:srgbClr val="E0A100"/>
          </a:solidFill>
          <a:ln/>
        </p:spPr>
      </p:sp>
      <p:sp>
        <p:nvSpPr>
          <p:cNvPr id="14" name="Text 12"/>
          <p:cNvSpPr/>
          <p:nvPr/>
        </p:nvSpPr>
        <p:spPr>
          <a:xfrm>
            <a:off x="1298448" y="40690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 · URGENT, NOT IMPORTANT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9536" y="45445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ad-hoc requests and interruptions that feel urgent to the requester.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7947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74536" y="4087368"/>
            <a:ext cx="310896" cy="310896"/>
          </a:xfrm>
          <a:prstGeom prst="ellipse">
            <a:avLst/>
          </a:prstGeom>
          <a:solidFill>
            <a:srgbClr val="5B7480"/>
          </a:solidFill>
          <a:ln/>
        </p:spPr>
      </p:sp>
      <p:sp>
        <p:nvSpPr>
          <p:cNvPr id="18" name="Text 16"/>
          <p:cNvSpPr/>
          <p:nvPr/>
        </p:nvSpPr>
        <p:spPr>
          <a:xfrm>
            <a:off x="7013448" y="40690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 · NOT URGENT, NOT IMPORTANT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74536" y="45445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paperwork, re-checking verified items, idle waiting.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2727"/>
            </a:avLst>
          </a:prstGeom>
          <a:solidFill>
            <a:srgbClr val="0B3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shrink Quadrant I over time by investing deliberately in Quadrant II.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LEARNING TO PRACTICE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shows up in our daily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B3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874520"/>
            <a:ext cx="4251960" cy="457200"/>
          </a:xfrm>
          <a:prstGeom prst="roundRect">
            <a:avLst>
              <a:gd name="adj" fmla="val 12000"/>
            </a:avLst>
          </a:prstGeom>
          <a:solidFill>
            <a:srgbClr val="0B3A4A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8745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we change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35240" y="1874520"/>
            <a:ext cx="3886200" cy="457200"/>
          </a:xfrm>
          <a:prstGeom prst="roundRect">
            <a:avLst>
              <a:gd name="adj" fmla="val 12000"/>
            </a:avLst>
          </a:prstGeom>
          <a:solidFill>
            <a:srgbClr val="0B3A4A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1874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will see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Proactive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423160"/>
            <a:ext cx="4251960" cy="868680"/>
          </a:xfrm>
          <a:prstGeom prst="roundRect">
            <a:avLst>
              <a:gd name="adj" fmla="val 6316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4231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review failure patterns weekly, not just close tickets.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35240" y="2423160"/>
            <a:ext cx="3886200" cy="868680"/>
          </a:xfrm>
          <a:prstGeom prst="roundRect">
            <a:avLst>
              <a:gd name="adj" fmla="val 6316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4231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breakdown log reviewed every Monday.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the End in Mind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3383280"/>
            <a:ext cx="4251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3832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“happy customer” outcome before starting a job.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35240" y="3383280"/>
            <a:ext cx="3886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33832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job objective on every work order.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43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First Things First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4343400"/>
            <a:ext cx="4251960" cy="868680"/>
          </a:xfrm>
          <a:prstGeom prst="roundRect">
            <a:avLst>
              <a:gd name="adj" fmla="val 6316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43434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protected time for PM and coaching each week.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35240" y="4343400"/>
            <a:ext cx="3886200" cy="868680"/>
          </a:xfrm>
          <a:prstGeom prst="roundRect">
            <a:avLst>
              <a:gd name="adj" fmla="val 6316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43434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slots that aren't moved for non-emergencies.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303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Win-Win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91840" y="5303520"/>
            <a:ext cx="4251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530352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turnaround expectations with the customer up front.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35240" y="5303520"/>
            <a:ext cx="3886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53035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disputes over what “urgent” means.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30-DAY PRACTICE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the shift real, one week at a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2606040" cy="475488"/>
          </a:xfrm>
          <a:prstGeom prst="roundRect">
            <a:avLst>
              <a:gd name="adj" fmla="val 19231"/>
            </a:avLst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It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32004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our one-sentence department vision with every shift and toolbox talk.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011680"/>
            <a:ext cx="2606040" cy="475488"/>
          </a:xfrm>
          <a:prstGeom prst="roundRect">
            <a:avLst>
              <a:gd name="adj" fmla="val 19231"/>
            </a:avLst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01168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39312" y="2697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It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39312" y="32004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each team goal and KPI ladders up to “world-class service, happy customer.”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011680"/>
            <a:ext cx="2606040" cy="475488"/>
          </a:xfrm>
          <a:prstGeom prst="roundRect">
            <a:avLst>
              <a:gd name="adj" fmla="val 19231"/>
            </a:avLst>
          </a:prstGeom>
          <a:solidFill>
            <a:srgbClr val="E0A1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01168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73952" y="2697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It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73952" y="32004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one Quadrant II block per person: PM planning, coaching, or root-cause review.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201168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2011680"/>
            <a:ext cx="2606040" cy="475488"/>
          </a:xfrm>
          <a:prstGeom prst="roundRect">
            <a:avLst>
              <a:gd name="adj" fmla="val 19231"/>
            </a:avLst>
          </a:prstGeom>
          <a:solidFill>
            <a:srgbClr val="A34A3A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0" y="201168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08592" y="2697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It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08592" y="32004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the breakdown log and PM adherence; sharpen the plan for next month.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108960"/>
            <a:ext cx="4937760" cy="4937760"/>
          </a:xfrm>
          <a:prstGeom prst="ellipse">
            <a:avLst/>
          </a:prstGeom>
          <a:solidFill>
            <a:srgbClr val="0F4A5E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1488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" y="260604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Service Standards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05840" y="3611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engineer turns our vision into a happy customer — before, during and after every service.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service vs bad service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a customer who stays and one we lose</a:t>
            </a:r>
            <a:endParaRPr lang="en-US" sz="1450" dirty="0"/>
          </a:p>
        </p:txBody>
      </p:sp>
      <p:pic>
        <p:nvPicPr>
          <p:cNvPr id="5" name="Image 0" descr="svg/good_bad_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1783080"/>
            <a:ext cx="8229600" cy="4285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Do’s and Don’ts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before every visit until it is second nature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 DO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A34A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 DON’T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E4F1EE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5059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appointment and your arrival time.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450592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45059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site without informing the customer.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27248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2724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Video-call inspect first and carry the right spares.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3127248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12724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first, discover the spare is missing after.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E4F1EE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0390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full uniform, ID card and safety gear.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803904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80390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casual clothes or without safety gear.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48056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fully and demonstrate the machine working.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4480560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48056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up the moment the part is replaced.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157216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E4F1EE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15721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report and take the customer’s sign-off.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5157216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515721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without documentation or acknowledgement.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833872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83387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“I will check and confirm” when unsure.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5833872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83387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false assurances or promise dates you can’t keep.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 CODE · SECTION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PPE kit and uniform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forms an opinion in the first ten seconds</a:t>
            </a:r>
            <a:endParaRPr lang="en-US" sz="1450" dirty="0"/>
          </a:p>
        </p:txBody>
      </p:sp>
      <p:pic>
        <p:nvPicPr>
          <p:cNvPr id="5" name="Image 0" descr="svg/ppe_uni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1783080"/>
            <a:ext cx="8732520" cy="42726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Non-negotiable safety rules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shortcut is worth an injury — on any site, on any day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AF0EF"/>
          </a:solidFill>
          <a:ln w="15875">
            <a:solidFill>
              <a:srgbClr val="A34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21992"/>
            <a:ext cx="457200" cy="402336"/>
          </a:xfrm>
          <a:prstGeom prst="triangle">
            <a:avLst/>
          </a:prstGeom>
          <a:solidFill>
            <a:srgbClr val="E0A1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768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1122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Confined space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44144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enter or work at a manhole until it is confirmed gas-free and ventilated.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AF0EF"/>
          </a:solidFill>
          <a:ln w="15875">
            <a:solidFill>
              <a:srgbClr val="A34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273552"/>
            <a:ext cx="457200" cy="402336"/>
          </a:xfrm>
          <a:prstGeom prst="triangle">
            <a:avLst/>
          </a:prstGeom>
          <a:solidFill>
            <a:srgbClr val="E0A10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284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31638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 power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49300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off power and release hydraulic / stored pressure before opening the machine.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AF0EF"/>
          </a:solidFill>
          <a:ln w="15875">
            <a:solidFill>
              <a:srgbClr val="A34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325112"/>
            <a:ext cx="457200" cy="402336"/>
          </a:xfrm>
          <a:prstGeom prst="triangle">
            <a:avLst/>
          </a:prstGeom>
          <a:solidFill>
            <a:srgbClr val="E0A10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799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42153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PPE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54456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gloves, safety shoes, mask — and reflective jacket at roadside sites.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AF0EF"/>
          </a:solidFill>
          <a:ln w="15875">
            <a:solidFill>
              <a:srgbClr val="A34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376672"/>
            <a:ext cx="457200" cy="402336"/>
          </a:xfrm>
          <a:prstGeom prst="triangle">
            <a:avLst/>
          </a:prstGeom>
          <a:solidFill>
            <a:srgbClr val="E0A10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4315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52669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rush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0200" y="559612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Barricade roadside work. Never skip a safety step to finish faster.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STANDARDS · SECTION 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service is usually bad communication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repair can take time — silence is what makes it feel worse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86000"/>
            <a:ext cx="457200" cy="45720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8803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327355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appointment and your ETA. If you will be late, say so in advance.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01168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2286000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39312" y="28803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arrival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39312" y="327355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Greet, introduce yourself, show your ID, and explain what you will do.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952" y="2286000"/>
            <a:ext cx="457200" cy="457200"/>
          </a:xfrm>
          <a:prstGeom prst="ellipse">
            <a:avLst/>
          </a:prstGeom>
          <a:solidFill>
            <a:srgbClr val="E0A1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73952" y="28803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73952" y="327355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language, no jargon. Say what you found and how long it will take.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52560" y="201168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8592" y="2286000"/>
            <a:ext cx="457200" cy="457200"/>
          </a:xfrm>
          <a:prstGeom prst="ellipse">
            <a:avLst/>
          </a:prstGeom>
          <a:solidFill>
            <a:srgbClr val="A34A3A"/>
          </a:solidFill>
          <a:ln/>
        </p:spPr>
      </p:sp>
      <p:sp>
        <p:nvSpPr>
          <p:cNvPr id="22" name="Text 20"/>
          <p:cNvSpPr/>
          <p:nvPr/>
        </p:nvSpPr>
        <p:spPr>
          <a:xfrm>
            <a:off x="930859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08592" y="28803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08592" y="327355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was repaired, show it running, and state the next step clearly.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AF0EF"/>
          </a:solidFill>
          <a:ln w="15875">
            <a:solidFill>
              <a:srgbClr val="A34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an angry customer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8680" y="490118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calm, never argue. Listen fully and acknowledge the frustration first. Never blame the customer, the operator or the machine — and never criticise Genrobotics or a colleague. If you cannot resolve it, escalate to the Maintenance Manager rather than promise what you can’t keep.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· SECTION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engineer works alone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team, one goal — covering each other across regions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669280" cy="841248"/>
          </a:xfrm>
          <a:prstGeom prst="roundRect">
            <a:avLst>
              <a:gd name="adj" fmla="val 7609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31136"/>
            <a:ext cx="310896" cy="3108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43584" y="2075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Communicate openly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43584" y="236829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team, your manager and head office updated. Never go silent.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669280" cy="841248"/>
          </a:xfrm>
          <a:prstGeom prst="roundRect">
            <a:avLst>
              <a:gd name="adj" fmla="val 7609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3191256"/>
            <a:ext cx="310896" cy="3108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43584" y="3035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problems early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43584" y="33284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difficulty shared early is solved before it reaches the customer.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669280" cy="841248"/>
          </a:xfrm>
          <a:prstGeom prst="roundRect">
            <a:avLst>
              <a:gd name="adj" fmla="val 7609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4151376"/>
            <a:ext cx="310896" cy="3108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43584" y="39959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ideas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43584" y="42885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 that worked or a faster method should benefit every engineer.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5669280" cy="841248"/>
          </a:xfrm>
          <a:prstGeom prst="roundRect">
            <a:avLst>
              <a:gd name="adj" fmla="val 7609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5111496"/>
            <a:ext cx="310896" cy="3108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1243584" y="4956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 leave in advance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43584" y="524865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region is covered and pending complaints are handed over.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19659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1488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Inter-region support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75120" y="25146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engineer is on leave or unavailable and a complaint comes up in that region, the nearest engineer from a neighbouring region steps in.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waits just because “the usual engineer is not available.”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397764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133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 the right way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75120" y="44805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region’s engineer is informed FIRST.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47731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Engineer assesses — video call, issues, spares.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506577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Plan discussed with the team head.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535838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Response executed, team updated to closure.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STOCK · SECTIONS 6–7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the month, stock the spares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is what makes first-time-right possible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3840480"/>
          </a:xfrm>
          <a:prstGeom prst="roundRect">
            <a:avLst>
              <a:gd name="adj" fmla="val 2381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regional plan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2944368"/>
            <a:ext cx="118872" cy="1188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28346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unit in your region: product, serial, customer, AMC status, next PM due.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93008"/>
            <a:ext cx="118872" cy="1188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1207008" y="33832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PM visits due this month; cluster them by area to save travel.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041648"/>
            <a:ext cx="118872" cy="1188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39319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weekly targets — and keep buffer days for emergency breakdowns.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590288"/>
            <a:ext cx="118872" cy="1188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44805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weekly with the manager; roll missed visits forward immediately.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5138928"/>
            <a:ext cx="118872" cy="1188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029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regional directory: local service centres, emergency spare sources, OEM vendors.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92024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E4F1EE"/>
          </a:solidFill>
          <a:ln w="15875">
            <a:solidFill>
              <a:srgbClr val="06D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194560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04888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spare stock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537960" y="2935224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6830568" y="28346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fast-movers ready — the parts that fail most often.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3392424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6830568" y="32918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minimum and a reorder level; raise the request before you hit zero.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3849624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8" name="Text 26"/>
          <p:cNvSpPr/>
          <p:nvPr/>
        </p:nvSpPr>
        <p:spPr>
          <a:xfrm>
            <a:off x="6830568" y="37490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defined kit per product line, plus consumables that never run out.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37960" y="4306824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0" name="Text 28"/>
          <p:cNvSpPr/>
          <p:nvPr/>
        </p:nvSpPr>
        <p:spPr>
          <a:xfrm>
            <a:off x="6830568" y="42062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FIFO; store spares clean, dry and undamaged.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4764024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2" name="Text 30"/>
          <p:cNvSpPr/>
          <p:nvPr/>
        </p:nvSpPr>
        <p:spPr>
          <a:xfrm>
            <a:off x="6830568" y="46634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spare issued or consumed so stock figures stay accurate.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37960" y="5221224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4" name="Text 32"/>
          <p:cNvSpPr/>
          <p:nvPr/>
        </p:nvSpPr>
        <p:spPr>
          <a:xfrm>
            <a:off x="6830568" y="51206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damaged spares — repairable parts feed a reconditioned pool.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SERVICE WORKFLOW · SECTION 8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service call follows three stages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“before” stage is the number-one cause of wasted trips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2F7F8"/>
          </a:solidFill>
          <a:ln w="19050">
            <a:solidFill>
              <a:srgbClr val="118A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50592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118AB2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45059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41248" y="3493008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Video-call inspection, written issue list, spares confirmed in stock, travel plan approved.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50792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34840" y="214884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2F7F8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2450592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4727448" y="245059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27448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4727448" y="3493008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verify fault, root-cause, repair, full test, clean, demonstrate, sign-off.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36992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321040" y="214884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2F7F8"/>
          </a:solidFill>
          <a:ln w="19050">
            <a:solidFill>
              <a:srgbClr val="E0A1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13648" y="2450592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</p:spPr>
      </p:sp>
      <p:sp>
        <p:nvSpPr>
          <p:cNvPr id="19" name="Text 17"/>
          <p:cNvSpPr/>
          <p:nvPr/>
        </p:nvSpPr>
        <p:spPr>
          <a:xfrm>
            <a:off x="8613648" y="245059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8.3–8.4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13648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8613648" y="3493008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saved, damaged spares returned, system updated, expenses filed, follow-up call.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B3A4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2578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is not closed until every issue is resolved, the checklist is complete, evidence is saved — and the customer confirms they are satisfied.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· BEFORE THE SERVICE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before you travel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spare is in your hand before you book the trip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76272"/>
            <a:ext cx="310896" cy="310896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43584" y="2039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Video-call inspection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43584" y="232257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fault live. Note the exact model and serial. Some issues close on the call.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3017520"/>
            <a:ext cx="310896" cy="310896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43584" y="2880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out the issues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43584" y="316382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every reported and observed problem. Confirm the list back to the customer.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648456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858768"/>
            <a:ext cx="310896" cy="310896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43584" y="37216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spares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43584" y="400507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issue to its part and physically confirm stock. Never assume.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89704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700016"/>
            <a:ext cx="310896" cy="310896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700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43584" y="4562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plan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43584" y="484632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nearby visits. Get the advance estimate approved. Confirm your ETA.</a:t>
            </a:r>
            <a:endParaRPr lang="en-US" sz="1150" dirty="0"/>
          </a:p>
        </p:txBody>
      </p:sp>
      <p:pic>
        <p:nvPicPr>
          <p:cNvPr id="25" name="Image 0" descr="svg/tool_spare_o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057400"/>
            <a:ext cx="5486400" cy="2457123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126480" y="461772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AF0EF"/>
          </a:solidFill>
          <a:ln w="15875">
            <a:solidFill>
              <a:srgbClr val="A34A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82512" y="47548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the customer and then discovering the required spare is missing is the single most damaging service failure. Always confirm spares first.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· DURING THE SERVICE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on-site sequence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same order at every site so nothing is skipped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658368"/>
          </a:xfrm>
          <a:prstGeom prst="roundRect">
            <a:avLst>
              <a:gd name="adj" fmla="val 8333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39696"/>
            <a:ext cx="310896" cy="3108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70432" y="19659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on time, greet, show 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3566160" cy="658368"/>
          </a:xfrm>
          <a:prstGeom prst="roundRect">
            <a:avLst>
              <a:gd name="adj" fmla="val 8333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926080"/>
            <a:ext cx="310896" cy="310896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70432" y="275234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PPE, assess site safety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38728"/>
            <a:ext cx="3566160" cy="658368"/>
          </a:xfrm>
          <a:prstGeom prst="roundRect">
            <a:avLst>
              <a:gd name="adj" fmla="val 8333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712464"/>
            <a:ext cx="310896" cy="3108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70432" y="35387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“before” photos / videos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25112"/>
            <a:ext cx="3566160" cy="658368"/>
          </a:xfrm>
          <a:prstGeom prst="roundRect">
            <a:avLst>
              <a:gd name="adj" fmla="val 8333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498848"/>
            <a:ext cx="310896" cy="310896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70432" y="43251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fault yourself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111496"/>
            <a:ext cx="3566160" cy="658368"/>
          </a:xfrm>
          <a:prstGeom prst="roundRect">
            <a:avLst>
              <a:gd name="adj" fmla="val 8333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5285232"/>
            <a:ext cx="310896" cy="3108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5285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70432" y="51114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root cause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34840" y="1965960"/>
            <a:ext cx="3566160" cy="658368"/>
          </a:xfrm>
          <a:prstGeom prst="roundRect">
            <a:avLst>
              <a:gd name="adj" fmla="val 8333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6008" y="2139696"/>
            <a:ext cx="310896" cy="310896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7" name="Text 25"/>
          <p:cNvSpPr/>
          <p:nvPr/>
        </p:nvSpPr>
        <p:spPr>
          <a:xfrm>
            <a:off x="4636008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56632" y="19659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&amp; get approval if needed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34840" y="2752344"/>
            <a:ext cx="3566160" cy="658368"/>
          </a:xfrm>
          <a:prstGeom prst="roundRect">
            <a:avLst>
              <a:gd name="adj" fmla="val 8333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36008" y="2926080"/>
            <a:ext cx="310896" cy="3108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1" name="Text 29"/>
          <p:cNvSpPr/>
          <p:nvPr/>
        </p:nvSpPr>
        <p:spPr>
          <a:xfrm>
            <a:off x="463600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56632" y="275234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with the correct spare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3538728"/>
            <a:ext cx="3566160" cy="658368"/>
          </a:xfrm>
          <a:prstGeom prst="roundRect">
            <a:avLst>
              <a:gd name="adj" fmla="val 8333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36008" y="3712464"/>
            <a:ext cx="310896" cy="310896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5" name="Text 33"/>
          <p:cNvSpPr/>
          <p:nvPr/>
        </p:nvSpPr>
        <p:spPr>
          <a:xfrm>
            <a:off x="4636008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56632" y="35387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damaged spares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434840" y="4325112"/>
            <a:ext cx="3566160" cy="658368"/>
          </a:xfrm>
          <a:prstGeom prst="roundRect">
            <a:avLst>
              <a:gd name="adj" fmla="val 8333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36008" y="4498848"/>
            <a:ext cx="310896" cy="3108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9" name="Text 37"/>
          <p:cNvSpPr/>
          <p:nvPr/>
        </p:nvSpPr>
        <p:spPr>
          <a:xfrm>
            <a:off x="4636008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56632" y="43251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listed issue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434840" y="5111496"/>
            <a:ext cx="3566160" cy="658368"/>
          </a:xfrm>
          <a:prstGeom prst="roundRect">
            <a:avLst>
              <a:gd name="adj" fmla="val 8333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36008" y="5285232"/>
            <a:ext cx="310896" cy="310896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43" name="Text 41"/>
          <p:cNvSpPr/>
          <p:nvPr/>
        </p:nvSpPr>
        <p:spPr>
          <a:xfrm>
            <a:off x="4636008" y="5285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56632" y="51114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present the machine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21040" y="1965960"/>
            <a:ext cx="3566160" cy="658368"/>
          </a:xfrm>
          <a:prstGeom prst="roundRect">
            <a:avLst>
              <a:gd name="adj" fmla="val 8333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22208" y="2139696"/>
            <a:ext cx="310896" cy="3108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7" name="Text 45"/>
          <p:cNvSpPr/>
          <p:nvPr/>
        </p:nvSpPr>
        <p:spPr>
          <a:xfrm>
            <a:off x="8522208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942832" y="19659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“after” photos / videos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321040" y="2752344"/>
            <a:ext cx="3566160" cy="658368"/>
          </a:xfrm>
          <a:prstGeom prst="roundRect">
            <a:avLst>
              <a:gd name="adj" fmla="val 8333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22208" y="2926080"/>
            <a:ext cx="310896" cy="310896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51" name="Text 49"/>
          <p:cNvSpPr/>
          <p:nvPr/>
        </p:nvSpPr>
        <p:spPr>
          <a:xfrm>
            <a:off x="852220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942832" y="275234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&amp; brief the operator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321040" y="1965960"/>
            <a:ext cx="3291840" cy="3145536"/>
          </a:xfrm>
          <a:prstGeom prst="roundRect">
            <a:avLst>
              <a:gd name="adj" fmla="val 2907"/>
            </a:avLst>
          </a:prstGeom>
          <a:solidFill>
            <a:srgbClr val="0B3A4A"/>
          </a:solidFill>
          <a:ln/>
        </p:spPr>
      </p:sp>
      <p:sp>
        <p:nvSpPr>
          <p:cNvPr id="54" name="Text 52"/>
          <p:cNvSpPr/>
          <p:nvPr/>
        </p:nvSpPr>
        <p:spPr>
          <a:xfrm>
            <a:off x="859536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55" name="Text 53"/>
          <p:cNvSpPr/>
          <p:nvPr/>
        </p:nvSpPr>
        <p:spPr>
          <a:xfrm>
            <a:off x="859536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&amp; sign-off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8595360" y="3364992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product checklist, fill the report, record spares used, and take the customer’s signature.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until every listed issue is confirmed resolved.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· EVIDENCE, SPARES AND PRESENTATION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Photograph everything. Return every damaged part.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practices that are mandatory on every single service</a:t>
            </a:r>
            <a:endParaRPr lang="en-US" sz="1450" dirty="0"/>
          </a:p>
        </p:txBody>
      </p:sp>
      <p:pic>
        <p:nvPicPr>
          <p:cNvPr id="5" name="Image 0" descr="svg/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5848" y="1783080"/>
            <a:ext cx="5486400" cy="23983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4805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2F7F8"/>
          </a:solidFill>
          <a:ln w="15875">
            <a:solidFill>
              <a:srgbClr val="118A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4617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Evidence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4937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and after photos/videos saved against the complaint in the system — not on a personal phone.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15968" y="44805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2F7F8"/>
          </a:solidFill>
          <a:ln w="15875">
            <a:solidFill>
              <a:srgbClr val="06D6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4617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Damaged spares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0" y="4937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every removed part, tag it, and send it back. Repairable parts get reused.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83296" y="44805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2F7F8"/>
          </a:solidFill>
          <a:ln w="15875">
            <a:solidFill>
              <a:srgbClr val="E0A1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39328" y="4617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Presentation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339328" y="4937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wipe down the machine and accessories. Hand it back looking cared-for.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8.3‑C · FINAL PRESENTATION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every machine back clean and neat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neat product signals quality work and builds trust</a:t>
            </a:r>
            <a:endParaRPr lang="en-US" sz="1450" dirty="0"/>
          </a:p>
        </p:txBody>
      </p:sp>
      <p:pic>
        <p:nvPicPr>
          <p:cNvPr id="5" name="Image 0" descr="svg/clean_arran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1874520"/>
            <a:ext cx="7863840" cy="35218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623560"/>
            <a:ext cx="3520440" cy="566928"/>
          </a:xfrm>
          <a:prstGeom prst="roundRect">
            <a:avLst>
              <a:gd name="adj" fmla="val 48387"/>
            </a:avLst>
          </a:prstGeom>
          <a:solidFill>
            <a:srgbClr val="E4F1E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6235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down the machine and all accessories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15968" y="5623560"/>
            <a:ext cx="3520440" cy="566928"/>
          </a:xfrm>
          <a:prstGeom prst="roundRect">
            <a:avLst>
              <a:gd name="adj" fmla="val 48387"/>
            </a:avLst>
          </a:prstGeom>
          <a:solidFill>
            <a:srgbClr val="E4F1E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15968" y="56235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grease, oil, dust and tape residue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83296" y="5623560"/>
            <a:ext cx="3520440" cy="566928"/>
          </a:xfrm>
          <a:prstGeom prst="roundRect">
            <a:avLst>
              <a:gd name="adj" fmla="val 48387"/>
            </a:avLst>
          </a:prstGeom>
          <a:solidFill>
            <a:srgbClr val="E4F1E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83296" y="56235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cables and accessories tidily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&amp; 9 · CLOSE-OUT AND EXPENSES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job properly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visit isn’t finished when the machine starts — it’s finished when the record is complete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3840480"/>
          </a:xfrm>
          <a:prstGeom prst="roundRect">
            <a:avLst>
              <a:gd name="adj" fmla="val 2381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service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25968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checklist is complete and every issue resolved.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30998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complaint in the system with the root cause.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703320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07008" y="36027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before/after photos and videos to the record.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206240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41056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spares consumed; log damaged parts for return.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709160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207008" y="46085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root cause so the fleet can be protected.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5212080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1114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call: confirm the machine still runs well.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92024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E4F1EE"/>
          </a:solidFill>
          <a:ln w="15875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&amp; expense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92240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29260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route, estimate the cost, and get the fund request approved.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8404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bill — travel, fuel, toll, stay, food, local purchase. Photograph them immediately.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92240" y="4480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47548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actuals in Field Expense Pro, attach bills, reconcile advance vs spent, submit on time.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92240" y="5394960"/>
            <a:ext cx="4846320" cy="274320"/>
          </a:xfrm>
          <a:prstGeom prst="roundRect">
            <a:avLst>
              <a:gd name="adj" fmla="val 50000"/>
            </a:avLst>
          </a:prstGeom>
          <a:solidFill>
            <a:srgbClr val="0B3A4A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5394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bill = no claim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· SECTION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best complaint is the one that never happens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Quadrant II work — where a reactive team becomes a reliable one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858000" cy="868680"/>
          </a:xfrm>
          <a:prstGeom prst="roundRect">
            <a:avLst>
              <a:gd name="adj" fmla="val 7368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756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Bandicoot / Mobility Plus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36829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arm &amp; bucket wear, camera, lighting, hydraulic hoses, cylinders, gas-sensor &amp; safety systems.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68580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G-Mammoth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33558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Suction system, pump, hoses &amp; couplings, tank &amp; valves, chassis mounting, hydraulics, fluid levels.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941064"/>
            <a:ext cx="6858000" cy="868680"/>
          </a:xfrm>
          <a:prstGeom prst="roundRect">
            <a:avLst>
              <a:gd name="adj" fmla="val 7368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50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Wilboar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and cutting mechanism, structural fasteners, hydraulics, electricals, wear parts, lubrication.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928616"/>
            <a:ext cx="68580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0383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Generators / Compressors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53309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&amp; oil, filters, battery, cooling, load testing, wiring &amp; terminals, running-hour servicing.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35240" y="1965960"/>
            <a:ext cx="3977640" cy="1874520"/>
          </a:xfrm>
          <a:prstGeom prst="roundRect">
            <a:avLst>
              <a:gd name="adj" fmla="val 4878"/>
            </a:avLst>
          </a:prstGeom>
          <a:solidFill>
            <a:srgbClr val="E4F1EE"/>
          </a:solidFill>
          <a:ln w="15875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21488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preventive mindset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09560" y="248716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breakdown teaches you what to check early on other units.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beyond the reported fault — catch wear before it fails.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the operator: most repeat complaints come from incorrect use.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4023360"/>
            <a:ext cx="3977640" cy="1874520"/>
          </a:xfrm>
          <a:prstGeom prst="roundRect">
            <a:avLst>
              <a:gd name="adj" fmla="val 4878"/>
            </a:avLst>
          </a:prstGeom>
          <a:solidFill>
            <a:srgbClr val="FAF0EF"/>
          </a:solidFill>
          <a:ln w="15875">
            <a:solidFill>
              <a:srgbClr val="A34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42062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Safety first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09560" y="4535424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off, isolate power and release stored pressure before any PM task.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generators, let the engine cool and disconnect the battery.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bypass a machine’s safety features during testing.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CHECKLISTS · SECTION 12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checklist before and after — every product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OK or write the complaint. Never leave until every point is closed.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39696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98448" y="196596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Bandicoot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1965960"/>
            <a:ext cx="8183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condition · crane, bucket &amp; arm operation · legs · camera · gas sensor · light · wheels · pro-lift · conduit · wire rope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944368"/>
            <a:ext cx="347472" cy="3474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298448" y="277063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 Plus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770632"/>
            <a:ext cx="8183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in/out · loading &amp; unloading · trolley · dumper · hydraulic pressure · jack · limit switches · auto mode · reverse camera · vehicle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75304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749040"/>
            <a:ext cx="347472" cy="347472"/>
          </a:xfrm>
          <a:prstGeom prst="ellipse">
            <a:avLst/>
          </a:prstGeom>
          <a:solidFill>
            <a:srgbClr val="E0A100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98448" y="3575304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G-Mammoth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3575304"/>
            <a:ext cx="8183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condition · suction/desilting · pump · hoses &amp; couplings · valves · hydraulics · boom · jetting · chassis &amp; PTO · fluids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79976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553712"/>
            <a:ext cx="347472" cy="347472"/>
          </a:xfrm>
          <a:prstGeom prst="ellipse">
            <a:avLst/>
          </a:prstGeom>
          <a:solidFill>
            <a:srgbClr val="A34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553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298448" y="4379976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Wilboar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91840" y="4379976"/>
            <a:ext cx="8183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condition · drive/travel · cutting mechanism · hydraulics · electricals · sensors · wear parts · frame · lubrication · tracks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184648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5358384"/>
            <a:ext cx="347472" cy="347472"/>
          </a:xfrm>
          <a:prstGeom prst="ellipse">
            <a:avLst/>
          </a:prstGeom>
          <a:solidFill>
            <a:srgbClr val="5B7480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5358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298448" y="5184648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291840" y="5184648"/>
            <a:ext cx="8183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· fuel &amp; leaks · engine oil · coolant · filters · battery · starting · wiring &amp; panel · load test · running hours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6053328"/>
            <a:ext cx="11064240" cy="274320"/>
          </a:xfrm>
          <a:prstGeom prst="roundRect">
            <a:avLst>
              <a:gd name="adj" fmla="val 50000"/>
            </a:avLst>
          </a:prstGeom>
          <a:solidFill>
            <a:srgbClr val="0B3A4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points per product  ·  Before check + After check + complaints list + customer sign-off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THE TEAM ALONG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What, why, and how each person contributes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3520440" cy="502920"/>
          </a:xfrm>
          <a:prstGeom prst="roundRect">
            <a:avLst>
              <a:gd name="adj" fmla="val 18182"/>
            </a:avLst>
          </a:prstGeom>
          <a:solidFill>
            <a:srgbClr val="118A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26974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briefings on our department vision; a visible PM and breakdown log; product checklists on every job; a monthly review of the Quadrant II time we protected.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96596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968" y="1965960"/>
            <a:ext cx="3520440" cy="502920"/>
          </a:xfrm>
          <a:prstGeom prst="roundRect">
            <a:avLst>
              <a:gd name="adj" fmla="val 18182"/>
            </a:avLst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4407408" y="19659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08576" y="26974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happy customer isn't an accident — it's the result of proactive checks, planned work, correct spares, and clear communication, done consistently.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96596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7F8"/>
          </a:solidFill>
          <a:ln w="12700">
            <a:solidFill>
              <a:srgbClr val="D8E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83296" y="1965960"/>
            <a:ext cx="3520440" cy="502920"/>
          </a:xfrm>
          <a:prstGeom prst="roundRect">
            <a:avLst>
              <a:gd name="adj" fmla="val 18182"/>
            </a:avLst>
          </a:prstGeom>
          <a:solidFill>
            <a:srgbClr val="E0A100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19659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PERSON CONTRIBUTES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75904" y="26974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 owns their PM checklist, their response time, their evidence and expense records — and raises one improvement idea per month.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GENROBOTICS  ·  MAINTENANCE DEPARTMENT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F4A5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4023360" cy="4023360"/>
          </a:xfrm>
          <a:prstGeom prst="ellipse">
            <a:avLst/>
          </a:prstGeom>
          <a:solidFill>
            <a:srgbClr val="0F4A5E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288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9601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World-class service.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 customer.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1097280" y="42062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our vision, our contribution to Genrobotics, and the standard we hold ourselves to — on every machine, in every region, starting this week.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0" y="5257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Department  ·  Leading with Effectiveness  ·  Field Service Standards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Maintenance: Leading with Effectiveness &amp; Field Service Standards</dc:title>
  <dc:subject>PptxGenJS Presentation</dc:subject>
  <dc:creator>Genrobotics Maintenance Team</dc:creator>
  <cp:lastModifiedBy>Genrobotics Maintenance Team</cp:lastModifiedBy>
  <cp:revision>1</cp:revision>
  <dcterms:created xsi:type="dcterms:W3CDTF">2026-07-15T04:53:55Z</dcterms:created>
  <dcterms:modified xsi:type="dcterms:W3CDTF">2026-07-15T04:53:55Z</dcterms:modified>
</cp:coreProperties>
</file>